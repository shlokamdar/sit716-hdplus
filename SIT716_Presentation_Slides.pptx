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10" Type="http://schemas.openxmlformats.org/officeDocument/2006/relationships/image" Target="../media/image19.png"/><Relationship Id="rId9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CLOUD SECURITY  ·  SIT716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Cloud Intrusion Detection and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Automated Response Using AWS VPC Flow Logs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Shloka Hitesh Kamdar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914400" y="509320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8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8CC"/>
                </a:solidFill>
                <a:latin typeface="Calibri"/>
                <a:ea typeface="Calibri"/>
                <a:cs typeface="Calibri"/>
                <a:sym typeface="Calibri"/>
              </a:rPr>
              <a:t>Student ID: 226463713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threat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781" y="149102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>
            <a:off x="1417320" y="139903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Threat Landscape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1417320" y="173736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Cloud environments face persistent, high-volume automated reconnaissance and brute-force attacks that overwhelm manual SOC triage.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clock.pn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781" y="254258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1417320" y="24505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Cost of Latency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417320" y="2788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Manual incident verification introduces extended dwell time, allowing attackers to pivot and compromise internal workloads.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bullseye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781" y="3594141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/>
        </p:nvSpPr>
        <p:spPr>
          <a:xfrm>
            <a:off x="1417320" y="350215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Project Objective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417320" y="384048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Architect an end-to-end, event-driven detection and automated response pipeline that isolates threats with zero manual intervention.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fmla="val 6154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960120" y="489204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“Tools like AWS GuardDuty already do this well — the goal here isn’t to replace them, but to build and understand a comparable detection-and-response pipeline end-to-end.”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A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/>
        </p:nvSpPr>
        <p:spPr>
          <a:xfrm>
            <a:off x="655330" y="2612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Architecture &amp; Telemetry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655343" y="771353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Four EC2 instances in one VPC — traffic flows left to right, from attack simulation through detection to automated containment.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2130076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2498591" y="1379901"/>
            <a:ext cx="394200" cy="394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7"/>
          </a:p>
        </p:txBody>
      </p:sp>
      <p:pic>
        <p:nvPicPr>
          <p:cNvPr descr="/home/claude/pptx_build/icons/attacker.png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818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 txBox="1"/>
          <p:nvPr/>
        </p:nvSpPr>
        <p:spPr>
          <a:xfrm>
            <a:off x="2166563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Attackers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2166563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10.0.1.194 / .70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276922" y="1825040"/>
            <a:ext cx="99900" cy="8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392512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761027" y="1379901"/>
            <a:ext cx="394200" cy="394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target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2254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/>
        </p:nvSpPr>
        <p:spPr>
          <a:xfrm>
            <a:off x="3428999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3428999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Protected asset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39358" y="1825040"/>
            <a:ext cx="99900" cy="8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654948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023462" y="1379901"/>
            <a:ext cx="394200" cy="394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flowlogs.png" id="63" name="Google Shape;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4690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/>
          <p:nvPr/>
        </p:nvSpPr>
        <p:spPr>
          <a:xfrm>
            <a:off x="4691435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VPC Flow Logs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4691435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Every connection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801794" y="1825040"/>
            <a:ext cx="99900" cy="8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917384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285898" y="1379901"/>
            <a:ext cx="394200" cy="394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7"/>
          </a:p>
        </p:txBody>
      </p:sp>
      <p:pic>
        <p:nvPicPr>
          <p:cNvPr descr="/home/claude/pptx_build/icons/cloudwatch.png" id="69" name="Google Shape;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7126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5953870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CloudWatch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5953870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Log storage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064230" y="1825040"/>
            <a:ext cx="99900" cy="8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7179820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1F3864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548334" y="1379901"/>
            <a:ext cx="394200" cy="39420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detection.png" id="75" name="Google Shape;7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9562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7216306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Engine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216306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E6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C9D4E6"/>
                </a:solidFill>
                <a:latin typeface="Calibri"/>
                <a:ea typeface="Calibri"/>
                <a:cs typeface="Calibri"/>
                <a:sym typeface="Calibri"/>
              </a:rPr>
              <a:t>60s cron cycle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326666" y="1825040"/>
            <a:ext cx="99900" cy="8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8442256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810770" y="1379901"/>
            <a:ext cx="394200" cy="394200"/>
          </a:xfrm>
          <a:prstGeom prst="ellipse">
            <a:avLst/>
          </a:prstGeom>
          <a:solidFill>
            <a:srgbClr val="AEB8CC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7"/>
          </a:p>
        </p:txBody>
      </p:sp>
      <p:pic>
        <p:nvPicPr>
          <p:cNvPr descr="/home/claude/pptx_build/icons/lambda.png" id="81" name="Google Shape;8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61998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8478742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Lambda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8478742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Automated response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589102" y="1825040"/>
            <a:ext cx="99900" cy="8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BFD6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9704692" y="1248549"/>
            <a:ext cx="1131000" cy="124050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0125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  <a:effectLst>
            <a:outerShdw blurRad="60811" rotWithShape="0" algn="bl" dir="5400000" dist="20270">
              <a:srgbClr val="000000">
                <a:alpha val="12157"/>
              </a:srgbClr>
            </a:outerShdw>
          </a:effectLst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073206" y="1379901"/>
            <a:ext cx="394200" cy="394200"/>
          </a:xfrm>
          <a:prstGeom prst="ellipse">
            <a:avLst/>
          </a:prstGeom>
          <a:solidFill>
            <a:srgbClr val="AEB8CC"/>
          </a:solidFill>
          <a:ln>
            <a:noFill/>
          </a:ln>
        </p:spPr>
        <p:txBody>
          <a:bodyPr anchorCtr="0" anchor="ctr" bIns="72950" lIns="72950" spcFirstLastPara="1" rIns="72950" wrap="square" tIns="7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7"/>
          </a:p>
        </p:txBody>
      </p:sp>
      <p:pic>
        <p:nvPicPr>
          <p:cNvPr descr="/home/claude/pptx_build/icons/secgroup.png" id="87" name="Google Shape;8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24434" y="1431129"/>
            <a:ext cx="291601" cy="2916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9741178" y="1868824"/>
            <a:ext cx="105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38"/>
              <a:buFont typeface="Calibri"/>
              <a:buNone/>
            </a:pPr>
            <a:r>
              <a:rPr b="1" i="0" lang="en-US" sz="838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Security Group</a:t>
            </a:r>
            <a:endParaRPr b="0" i="0" sz="8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9741178" y="2197205"/>
            <a:ext cx="1058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75" lIns="72950" spcFirstLastPara="1" rIns="72950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678"/>
              <a:buFont typeface="Calibri"/>
              <a:buNone/>
            </a:pPr>
            <a:r>
              <a:rPr b="0" i="0" lang="en-US" sz="678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15-min containment</a:t>
            </a:r>
            <a:endParaRPr b="0" i="0" sz="6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2130080" y="6019630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Only HIGH-severity, deterministic rule matches trigger an automatic Security Group update — statistical anomalies are logged, never auto-blocked.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5" title="architecture_diagram.png"/>
          <p:cNvPicPr preferRelativeResize="0"/>
          <p:nvPr/>
        </p:nvPicPr>
        <p:blipFill rotWithShape="1">
          <a:blip r:embed="rId10">
            <a:alphaModFix/>
          </a:blip>
          <a:srcRect b="0" l="0" r="0" t="7184"/>
          <a:stretch/>
        </p:blipFill>
        <p:spPr>
          <a:xfrm>
            <a:off x="3429000" y="2625725"/>
            <a:ext cx="5699351" cy="352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How Statistical Detection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The Z-score layer flags traffic that deviates significantly from a learned baseline of normal behaviour.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bell_curve.png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00200"/>
            <a:ext cx="603504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640080" y="4709160"/>
            <a:ext cx="5760720" cy="777240"/>
          </a:xfrm>
          <a:prstGeom prst="roundRect">
            <a:avLst>
              <a:gd fmla="val 7059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640080" y="4709160"/>
            <a:ext cx="5760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E6"/>
              </a:buClr>
              <a:buSzPts val="2200"/>
              <a:buFont typeface="Cambria"/>
              <a:buNone/>
            </a:pPr>
            <a:r>
              <a:rPr b="0" i="0" lang="en-US" sz="2200" u="none" cap="none" strike="noStrike">
                <a:solidFill>
                  <a:srgbClr val="C9D4E6"/>
                </a:solidFill>
                <a:latin typeface="Cambria"/>
                <a:ea typeface="Cambria"/>
                <a:cs typeface="Cambria"/>
                <a:sym typeface="Cambria"/>
              </a:rPr>
              <a:t>z =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| x − μ |</a:t>
            </a:r>
            <a:r>
              <a:rPr b="0" i="0" lang="en-US" sz="2200" u="none" cap="none" strike="noStrike">
                <a:solidFill>
                  <a:srgbClr val="C9D4E6"/>
                </a:solidFill>
                <a:latin typeface="Cambria"/>
                <a:ea typeface="Cambria"/>
                <a:cs typeface="Cambria"/>
                <a:sym typeface="Cambria"/>
              </a:rPr>
              <a:t>  / 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903720" y="1773936"/>
            <a:ext cx="91440" cy="9144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7178040" y="161848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Baseline built from 45–60 minutes of captured normal traffic — mean (μ) and standard deviation (σ) computed per feature.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903720" y="2642616"/>
            <a:ext cx="91440" cy="9144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7178040" y="248716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Heavy-tailed volume features are log-transformed first, so a rare legitimate spike (an apt update, an scp transfer) doesn’t distort the baseline.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903720" y="3511296"/>
            <a:ext cx="91440" cy="9144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7178040" y="335584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Threshold set at 4.0σ — raised from an initial 3.0σ once the log-transform tightened the baseline and 3σ began over-firing on ordinary variation.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903720" y="4379976"/>
            <a:ext cx="91440" cy="9144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7178040" y="4224528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 window is flagged MEDIUM the moment ANY single feature’s z-score exceeds the threshold.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903720" y="5257800"/>
            <a:ext cx="4709160" cy="914400"/>
          </a:xfrm>
          <a:prstGeom prst="roundRect">
            <a:avLst>
              <a:gd fmla="val 6000" name="adj"/>
            </a:avLst>
          </a:prstGeom>
          <a:solidFill>
            <a:srgbClr val="FFF0EB"/>
          </a:solidFill>
          <a:ln cap="flat" cmpd="sng" w="12700">
            <a:solidFill>
              <a:srgbClr val="FF6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7086600" y="525780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Real example: </a:t>
            </a:r>
            <a:r>
              <a:rPr b="0" i="0" lang="en-US" sz="11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 window with reject_ratio = 0.50 fell below the rule’s 0.8 threshold — but its Z-score of 1098 still caught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How Detection Metrics Are Calculated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Every window’s raw outcome is compared against the recorded ground-truth attack window to build a confusion matrix.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1600200"/>
            <a:ext cx="3749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777240" y="16733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decision_log.jsonl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77240" y="193852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Every window examined, including quiet 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4434840" y="160020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A4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6A45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937760" y="1600200"/>
            <a:ext cx="3749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5074920" y="16733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ground_truth.json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5074920" y="193852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Real attack_start / attack_end from the test 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823960" y="1883664"/>
            <a:ext cx="45720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9418320" y="1600200"/>
            <a:ext cx="2148840" cy="777240"/>
          </a:xfrm>
          <a:prstGeom prst="roundRect">
            <a:avLst>
              <a:gd fmla="val 7059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418320" y="160020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2697480"/>
            <a:ext cx="3040380" cy="914400"/>
          </a:xfrm>
          <a:prstGeom prst="roundRect">
            <a:avLst>
              <a:gd fmla="val 6000" name="adj"/>
            </a:avLst>
          </a:prstGeom>
          <a:solidFill>
            <a:srgbClr val="E9FBF0"/>
          </a:solidFill>
          <a:ln cap="flat" cmpd="sng" w="1587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804672" y="2770632"/>
            <a:ext cx="27111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True Positive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804672" y="3081528"/>
            <a:ext cx="27111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Window inside the attack period AND detected = true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909060" y="2697480"/>
            <a:ext cx="3040380" cy="914400"/>
          </a:xfrm>
          <a:prstGeom prst="roundRect">
            <a:avLst>
              <a:gd fmla="val 6000" name="adj"/>
            </a:avLst>
          </a:prstGeom>
          <a:solidFill>
            <a:srgbClr val="FDEAEA"/>
          </a:solidFill>
          <a:ln cap="flat" cmpd="sng" w="158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4073652" y="2770632"/>
            <a:ext cx="27111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False Negative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4073652" y="3081528"/>
            <a:ext cx="27111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Window inside the attack period AND detected = false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3813048"/>
            <a:ext cx="3040380" cy="914400"/>
          </a:xfrm>
          <a:prstGeom prst="roundRect">
            <a:avLst>
              <a:gd fmla="val 6000" name="adj"/>
            </a:avLst>
          </a:prstGeom>
          <a:solidFill>
            <a:srgbClr val="FFF6E5"/>
          </a:solidFill>
          <a:ln cap="flat" cmpd="sng" w="15875">
            <a:solidFill>
              <a:srgbClr val="FFB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804672" y="3886200"/>
            <a:ext cx="27111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False Positive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804672" y="4197096"/>
            <a:ext cx="27111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Window outside the attack period AND detected = true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909060" y="3813048"/>
            <a:ext cx="3040380" cy="914400"/>
          </a:xfrm>
          <a:prstGeom prst="roundRect">
            <a:avLst>
              <a:gd fmla="val 6000" name="adj"/>
            </a:avLst>
          </a:prstGeom>
          <a:solidFill>
            <a:srgbClr val="EEF1FF"/>
          </a:solidFill>
          <a:ln cap="flat" cmpd="sng" w="15875">
            <a:solidFill>
              <a:srgbClr val="4C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073652" y="3886200"/>
            <a:ext cx="27111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True Negative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4073652" y="4197096"/>
            <a:ext cx="27111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Window outside the attack period AND detected = false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7269480" y="2697480"/>
            <a:ext cx="4279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Derived 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269480" y="3108960"/>
            <a:ext cx="427939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7434072" y="3008385"/>
            <a:ext cx="3950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Detection 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498497" y="3383350"/>
            <a:ext cx="395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TP / (TP + FN)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269480" y="3886200"/>
            <a:ext cx="427939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7434072" y="3822238"/>
            <a:ext cx="3950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7434072" y="4142278"/>
            <a:ext cx="395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FP / (FP + TN)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269480" y="4663440"/>
            <a:ext cx="4279392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C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7434072" y="4636115"/>
            <a:ext cx="3950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7434072" y="4956155"/>
            <a:ext cx="395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first TP − attack_start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638648" y="2286000"/>
            <a:ext cx="914400" cy="91440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detection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7520" y="2404872"/>
            <a:ext cx="676656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Demonstration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9D4E6"/>
                </a:solidFill>
                <a:latin typeface="Calibri"/>
                <a:ea typeface="Calibri"/>
                <a:cs typeface="Calibri"/>
                <a:sym typeface="Calibri"/>
              </a:rPr>
              <a:t>Detection and automated response, in real 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Ground Truth Comparison &amp; Metrics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Predicted alerts are compared against pre-labelled ground-truth traffic to quantify accuracy and responsiveness.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4543780" y="164140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Validation Process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43780" y="2098600"/>
            <a:ext cx="365700" cy="3657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4543780" y="20986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5046700" y="2080312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Label each flow log entry as normal or malicious (ground truth).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543780" y="2756968"/>
            <a:ext cx="365700" cy="3657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4543780" y="275696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046700" y="2738680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Run the detection system and record its predicted label.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43780" y="3415336"/>
            <a:ext cx="365700" cy="3657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4543780" y="3415336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5046700" y="3397048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Build a confusion matrix (TP / FP / TN / FN).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43780" y="4073704"/>
            <a:ext cx="365700" cy="3657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543780" y="407370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046700" y="4055416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Calculate Detection Rate and False Positive Rate from the matrix.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543780" y="4732072"/>
            <a:ext cx="365700" cy="3657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4543780" y="4732072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046700" y="4713784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Record detection latency (time from event to alert).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864"/>
                </a:solidFill>
                <a:latin typeface="Cambria"/>
                <a:ea typeface="Cambria"/>
                <a:cs typeface="Cambria"/>
                <a:sym typeface="Cambria"/>
              </a:rPr>
              <a:t>Limitations &amp; 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640080" y="12344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System Limitations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AEB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mapmarker.png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" y="17510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1280160" y="166420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Single-VPC Boundary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1319035" y="1860810"/>
            <a:ext cx="4663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Analysis is strictly localized to a single VPC without cross-account or multi-VPC event correlation.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unlock.png" id="203" name="Google Shape;2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" y="28026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 txBox="1"/>
          <p:nvPr/>
        </p:nvSpPr>
        <p:spPr>
          <a:xfrm>
            <a:off x="1280160" y="271576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Allow-Only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319035" y="2912370"/>
            <a:ext cx="4663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AWS Security Groups lack explicit deny rules, requiring active revocation of ingress permissions.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hourglass.png" id="207" name="Google Shape;2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516" y="385419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/>
          <p:nvPr/>
        </p:nvSpPr>
        <p:spPr>
          <a:xfrm>
            <a:off x="1280160" y="37673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Delivery Ingestion Lag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1319035" y="3995930"/>
            <a:ext cx="4663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VPC Flow Logs aggregate traffic in intervals, creating a real detection latency floor outside the engine’s control.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B7B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layers.png" id="211" name="Google Shape;21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516" y="490575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1280160" y="481888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L3/L4 Telemetry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280160" y="4992627"/>
            <a:ext cx="4663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Flow logs lack packet payload inspection and application-layer context.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brain.png" id="216" name="Google Shape;2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3076" y="17510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 txBox="1"/>
          <p:nvPr/>
        </p:nvSpPr>
        <p:spPr>
          <a:xfrm>
            <a:off x="6903720" y="166420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ML / AI Classifier Integration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6903720" y="1947672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Originally proposed and now genuinely viable using real labelled attack data collected during live testing.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63640" y="2743200"/>
            <a:ext cx="457200" cy="45720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sitemap.png" id="220" name="Google Shape;22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3076" y="28026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 txBox="1"/>
          <p:nvPr/>
        </p:nvSpPr>
        <p:spPr>
          <a:xfrm>
            <a:off x="6903720" y="271576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Cross-Account Automation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6903720" y="2999232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Orchestrating IAM AssumeRole actions across multi-account AWS Organizations.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263640" y="3794760"/>
            <a:ext cx="457200" cy="457200"/>
          </a:xfrm>
          <a:prstGeom prst="ellipse">
            <a:avLst/>
          </a:prstGeom>
          <a:solidFill>
            <a:srgbClr val="FF6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build/icons/sync.png" id="224" name="Google Shape;22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3076" y="385419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 txBox="1"/>
          <p:nvPr/>
        </p:nvSpPr>
        <p:spPr>
          <a:xfrm>
            <a:off x="6903720" y="37673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Dynamic Blacklist Expiration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6903720" y="4050792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Automated rule rollback with TTL-based state decay to prevent Security Group table exhaustion.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/>
        </p:nvSpPr>
        <p:spPr>
          <a:xfrm>
            <a:off x="914400" y="685800"/>
            <a:ext cx="41500200" cy="25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50" lIns="367200" spcFirstLastPara="1" rIns="367200" wrap="square" tIns="183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53"/>
              <a:buFont typeface="Cambria"/>
              <a:buNone/>
            </a:pPr>
            <a:r>
              <a:rPr b="1" lang="en-US" sz="12853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Thankyou</a:t>
            </a:r>
            <a:endParaRPr b="0" i="0" sz="12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215225" y="3636625"/>
            <a:ext cx="5638500" cy="1174800"/>
          </a:xfrm>
          <a:prstGeom prst="roundRect">
            <a:avLst>
              <a:gd fmla="val 50000" name="adj"/>
            </a:avLst>
          </a:prstGeom>
          <a:solidFill>
            <a:srgbClr val="FF6A45"/>
          </a:solidFill>
          <a:ln>
            <a:noFill/>
          </a:ln>
        </p:spPr>
        <p:txBody>
          <a:bodyPr anchorCtr="0" anchor="ctr" bIns="367200" lIns="367200" spcFirstLastPara="1" rIns="367200" wrap="square" tIns="36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3347304" y="3579400"/>
            <a:ext cx="6015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50" lIns="367200" spcFirstLastPara="1" rIns="367200" wrap="square" tIns="183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13"/>
              <a:buFont typeface="Calibri"/>
              <a:buNone/>
            </a:pPr>
            <a:r>
              <a:rPr b="1" lang="en-US" sz="32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SHLOKA HITESH KAMDAR</a:t>
            </a:r>
            <a:endParaRPr b="0" i="0" sz="3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914400" y="63093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6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6B8"/>
                </a:solidFill>
                <a:latin typeface="Calibri"/>
                <a:ea typeface="Calibri"/>
                <a:cs typeface="Calibri"/>
                <a:sym typeface="Calibri"/>
              </a:rPr>
              <a:t>Shloka Hitesh Kamdar  ·  226463713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